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1498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2" y="1447801"/>
            <a:ext cx="662096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2" y="4777380"/>
            <a:ext cx="662096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8191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903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2861734"/>
            <a:ext cx="662096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1919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700" y="2060576"/>
            <a:ext cx="3298113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1975" y="2056093"/>
            <a:ext cx="3298115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833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1905000"/>
            <a:ext cx="32981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700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1976" y="1905000"/>
            <a:ext cx="3298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1976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2488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4316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818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1447800"/>
            <a:ext cx="2551462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9397" y="1447800"/>
            <a:ext cx="3898013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129281"/>
            <a:ext cx="25514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5035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656" y="1854192"/>
            <a:ext cx="3820674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3517" y="1143000"/>
            <a:ext cx="2400925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657600"/>
            <a:ext cx="3814728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491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4800587"/>
            <a:ext cx="66209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2" y="685800"/>
            <a:ext cx="662096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3" y="5367325"/>
            <a:ext cx="662096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123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1447800"/>
            <a:ext cx="6620968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3657600"/>
            <a:ext cx="6620968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0342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409" y="1447800"/>
            <a:ext cx="6001049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8177" y="3771174"/>
            <a:ext cx="546115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4350657"/>
            <a:ext cx="6620968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897" y="971253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9690" y="2613787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22303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3124201"/>
            <a:ext cx="662096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4334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834" y="1981200"/>
            <a:ext cx="22107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475" y="2667000"/>
            <a:ext cx="219608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3504" y="1981200"/>
            <a:ext cx="220275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5586" y="2667000"/>
            <a:ext cx="2210671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1981200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4917" y="2667000"/>
            <a:ext cx="219965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9902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475" y="4250949"/>
            <a:ext cx="22056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475" y="2209800"/>
            <a:ext cx="220561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475" y="4827212"/>
            <a:ext cx="220561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792" y="4250949"/>
            <a:ext cx="21984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791" y="2209800"/>
            <a:ext cx="2198466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776" y="4827211"/>
            <a:ext cx="2201378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4250949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4916" y="2209800"/>
            <a:ext cx="2199658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4824" y="4827209"/>
            <a:ext cx="2202571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9443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4156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9782" y="430214"/>
            <a:ext cx="1314793" cy="5826125"/>
          </a:xfrm>
        </p:spPr>
        <p:txBody>
          <a:bodyPr vert="eaVert" anchor="b" anchorCtr="0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475" y="773205"/>
            <a:ext cx="5568812" cy="5483134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772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/>
          <p:cNvSpPr/>
          <p:nvPr/>
        </p:nvSpPr>
        <p:spPr>
          <a:xfrm>
            <a:off x="629943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3" name="Oval 22"/>
          <p:cNvSpPr/>
          <p:nvPr/>
        </p:nvSpPr>
        <p:spPr>
          <a:xfrm>
            <a:off x="5689832" y="-457200"/>
            <a:ext cx="1600200" cy="1600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4000"/>
                </a:schemeClr>
              </a:gs>
              <a:gs pos="73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Oval 23"/>
          <p:cNvSpPr/>
          <p:nvPr/>
        </p:nvSpPr>
        <p:spPr>
          <a:xfrm>
            <a:off x="6299432" y="6096000"/>
            <a:ext cx="990600" cy="9906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9000"/>
                </a:schemeClr>
              </a:gs>
              <a:gs pos="66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" name="Oval 19"/>
          <p:cNvSpPr/>
          <p:nvPr/>
        </p:nvSpPr>
        <p:spPr>
          <a:xfrm>
            <a:off x="-153988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1000"/>
                </a:schemeClr>
              </a:gs>
              <a:gs pos="75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1" name="Oval 20"/>
          <p:cNvSpPr/>
          <p:nvPr/>
        </p:nvSpPr>
        <p:spPr>
          <a:xfrm>
            <a:off x="-839788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8000"/>
                </a:schemeClr>
              </a:gs>
              <a:gs pos="72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9" name="Rectangle 1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2052925"/>
            <a:ext cx="6711654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494989" y="1828771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233335" y="3263371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6431" y="295736"/>
            <a:ext cx="628813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1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12574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7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6" indent="-342906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62" indent="-285755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20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2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3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42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49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5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6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7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5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2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38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46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53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6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Incidente de Seguridad en el Instituto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7700" y="3299381"/>
            <a:ext cx="6711654" cy="2949025"/>
          </a:xfrm>
        </p:spPr>
        <p:txBody>
          <a:bodyPr/>
          <a:lstStyle/>
          <a:p>
            <a:pPr marL="0" indent="0">
              <a:buNone/>
            </a:pPr>
            <a:r>
              <a:rPr lang="es-ES" dirty="0"/>
              <a:t>																																													Alejandro Molina De Haro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Contexto del caso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Aparición de una Wi-Fi falsa.</a:t>
            </a:r>
          </a:p>
          <a:p>
            <a:pPr lvl="1"/>
            <a:r>
              <a:t>Robo de cuentas tras conectarse.</a:t>
            </a:r>
          </a:p>
          <a:p>
            <a:pPr lvl="1"/>
            <a:r>
              <a:t>PDF con firma digital inválida.</a:t>
            </a:r>
          </a:p>
          <a:p>
            <a:pPr lvl="1"/>
            <a:r>
              <a:t>WPS activado y misma contraseña en todas las redes.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Ataque Wi-Fi detectado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Tipo de ataque: Evil Twin.</a:t>
            </a:r>
          </a:p>
          <a:p>
            <a:pPr lvl="1"/>
            <a:r>
              <a:t>Red falsa que imita a la original.</a:t>
            </a:r>
          </a:p>
          <a:p>
            <a:pPr lvl="1"/>
            <a:r>
              <a:t>Busca que los usuarios se conecten sin darse cuenta.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Evidencias del ataque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La red falsa tenía más potencia.</a:t>
            </a:r>
          </a:p>
          <a:p>
            <a:pPr lvl="1"/>
            <a:r>
              <a:t>No pedía contraseña.</a:t>
            </a:r>
          </a:p>
          <a:p>
            <a:pPr lvl="1"/>
            <a:r>
              <a:t>Mostraba una página intermedia sospechosa.</a:t>
            </a:r>
          </a:p>
          <a:p>
            <a:pPr lvl="1"/>
            <a:r>
              <a:t>Nombre casi igual al original.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Impacto del ataque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Robo de credenciales.</a:t>
            </a:r>
          </a:p>
          <a:p>
            <a:pPr lvl="1"/>
            <a:r>
              <a:t>Posible acceso a correos.</a:t>
            </a:r>
          </a:p>
          <a:p>
            <a:pPr lvl="1"/>
            <a:r>
              <a:t>Suplantación de identidad.</a:t>
            </a:r>
          </a:p>
          <a:p>
            <a:pPr lvl="1"/>
            <a:r>
              <a:t>Riesgo para sistemas internos.</a:t>
            </a:r>
          </a:p>
          <a:p>
            <a:pPr lvl="1"/>
            <a:r>
              <a:t>Daño a la imagen del centro.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Incidente del PDF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Firma digital inválida.</a:t>
            </a:r>
          </a:p>
          <a:p>
            <a:pPr lvl="1"/>
            <a:r>
              <a:t>Correo con dirección casi igual a la oficial.</a:t>
            </a:r>
          </a:p>
          <a:p>
            <a:pPr lvl="1"/>
            <a:r>
              <a:t>Posible phishing por suplantación.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Fallos detectados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No verificar correctamente el remitente.</a:t>
            </a:r>
          </a:p>
          <a:p>
            <a:pPr lvl="1"/>
            <a:r>
              <a:t>Posible mala configuración de SPF, DKIM y DMARC.</a:t>
            </a:r>
          </a:p>
          <a:p>
            <a:pPr lvl="1"/>
            <a:r>
              <a:t>Falta de formación en verificación de firmas digitales.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Riesgo del WPS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Permite conexión con PIN de 8 dígitos.</a:t>
            </a:r>
          </a:p>
          <a:p>
            <a:pPr lvl="1"/>
            <a:r>
              <a:t>Vulnerable a ataques de fuerza bruta.</a:t>
            </a:r>
          </a:p>
          <a:p>
            <a:pPr lvl="1"/>
            <a:r>
              <a:t>Puede revelar la contraseña real del Wi-Fi.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Problema de repetir contraseñas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Si una red se compromete, todas también.</a:t>
            </a:r>
          </a:p>
          <a:p>
            <a:pPr lvl="1"/>
            <a:r>
              <a:t>Facilita movimiento lateral.</a:t>
            </a:r>
          </a:p>
          <a:p>
            <a:pPr lvl="1"/>
            <a:r>
              <a:t>Aumenta el riesgo de acceso a la red interna.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Medidas urgentes (24h)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Desactivar WPS.</a:t>
            </a:r>
          </a:p>
          <a:p>
            <a:pPr lvl="1"/>
            <a:r>
              <a:t>Cambiar todas las contraseñas.</a:t>
            </a:r>
          </a:p>
          <a:p>
            <a:pPr lvl="1"/>
            <a:r>
              <a:t>Eliminar redes abiertas.</a:t>
            </a:r>
          </a:p>
          <a:p>
            <a:pPr lvl="1"/>
            <a:r>
              <a:t>Separar redes con VLAN.</a:t>
            </a:r>
          </a:p>
          <a:p>
            <a:pPr lvl="1"/>
            <a:r>
              <a:t>Configurar correctamente SPF, DKIM y DMARC.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Rediseño de infraestructura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Implementar WPA3-Enterprise.</a:t>
            </a:r>
          </a:p>
          <a:p>
            <a:pPr lvl="1"/>
            <a:r>
              <a:t>WPS desactivado permanentemente.</a:t>
            </a:r>
          </a:p>
          <a:p>
            <a:pPr lvl="1"/>
            <a:r>
              <a:t>VLAN separadas (profes, alumnos, invitados, administración).</a:t>
            </a:r>
          </a:p>
          <a:p>
            <a:pPr lvl="1"/>
            <a:r>
              <a:t>Servidor RADIUS y MFA obligatorio.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Amenaza más probable: Evil Twin.</a:t>
            </a:r>
          </a:p>
          <a:p>
            <a:pPr lvl="1"/>
            <a:r>
              <a:t>Vulnerabilidad más grave: WPS y falta de segmentación.</a:t>
            </a:r>
          </a:p>
          <a:p>
            <a:pPr lvl="1"/>
            <a:r>
              <a:t>Medida clave: WPA3-Enterprise + VLAN.</a:t>
            </a:r>
          </a:p>
          <a:p>
            <a:pPr lvl="1"/>
            <a:r>
              <a:t>Importancia de entender la firma digital.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F9C9D"/>
      </a:accent5>
      <a:accent6>
        <a:srgbClr val="9E5E9B"/>
      </a:accent6>
      <a:hlink>
        <a:srgbClr val="58C1BA"/>
      </a:hlink>
      <a:folHlink>
        <a:srgbClr val="9DD0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</TotalTime>
  <Words>358</Words>
  <Application>Microsoft Office PowerPoint</Application>
  <PresentationFormat>Presentación en pantalla (4:3)</PresentationFormat>
  <Paragraphs>54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5" baseType="lpstr">
      <vt:lpstr>Century Gothic</vt:lpstr>
      <vt:lpstr>Wingdings 3</vt:lpstr>
      <vt:lpstr>Ion</vt:lpstr>
      <vt:lpstr>Incidente de Seguridad en el Instituto</vt:lpstr>
      <vt:lpstr>Contexto del caso</vt:lpstr>
      <vt:lpstr>Ataque Wi-Fi detectado</vt:lpstr>
      <vt:lpstr>Evidencias del ataque</vt:lpstr>
      <vt:lpstr>Impacto del ataque</vt:lpstr>
      <vt:lpstr>Incidente del PDF</vt:lpstr>
      <vt:lpstr>Fallos detectados</vt:lpstr>
      <vt:lpstr>Riesgo del WPS</vt:lpstr>
      <vt:lpstr>Problema de repetir contraseñas</vt:lpstr>
      <vt:lpstr>Medidas urgentes (24h)</vt:lpstr>
      <vt:lpstr>Rediseño de infraestructura</vt:lpstr>
      <vt:lpstr>Conclusiones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Alejandro Molina de Haro</cp:lastModifiedBy>
  <cp:revision>3</cp:revision>
  <dcterms:created xsi:type="dcterms:W3CDTF">2013-01-27T09:14:16Z</dcterms:created>
  <dcterms:modified xsi:type="dcterms:W3CDTF">2026-03-27T08:11:47Z</dcterms:modified>
  <cp:category/>
</cp:coreProperties>
</file>